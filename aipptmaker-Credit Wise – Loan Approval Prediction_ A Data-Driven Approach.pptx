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5" r:id="rId8"/>
    <p:sldId id="266" r:id="rId9"/>
    <p:sldId id="268" r:id="rId10"/>
    <p:sldId id="269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" y="1447800"/>
            <a:ext cx="8099425" cy="2057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 fontAlgn="auto">
              <a:lnSpc>
                <a:spcPct val="120000"/>
              </a:lnSpc>
              <a:defRPr/>
            </a:pPr>
            <a:r>
              <a:rPr lang="en-US" sz="6000" b="1" i="0" u="none" spc="400" baseline="0" dirty="0">
                <a:solidFill>
                  <a:srgbClr val="003E8B"/>
                </a:solidFill>
                <a:latin typeface="思源黑体 Medium"/>
                <a:ea typeface="思源黑体 Medium"/>
              </a:rPr>
              <a:t>Credit Wise – Loan Approval Prediction</a:t>
            </a:r>
            <a:endParaRPr lang="en-US" sz="1100" dirty="0"/>
          </a:p>
        </p:txBody>
      </p:sp>
      <p:grpSp>
        <p:nvGrpSpPr>
          <p:cNvPr id="3" name="Group 3"/>
          <p:cNvGrpSpPr/>
          <p:nvPr/>
        </p:nvGrpSpPr>
        <p:grpSpPr>
          <a:xfrm>
            <a:off x="805180" y="5003482"/>
            <a:ext cx="5207000" cy="1321117"/>
            <a:chOff x="3892671" y="3696841"/>
            <a:chExt cx="5207000" cy="1321117"/>
          </a:xfrm>
          <a:noFill/>
        </p:grpSpPr>
        <p:sp>
          <p:nvSpPr>
            <p:cNvPr id="4" name="TextBox 4"/>
            <p:cNvSpPr txBox="1"/>
            <p:nvPr/>
          </p:nvSpPr>
          <p:spPr>
            <a:xfrm>
              <a:off x="3892671" y="3696841"/>
              <a:ext cx="3995420" cy="132111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endParaRPr lang="en-US" sz="1100" dirty="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8421491" y="4408359"/>
              <a:ext cx="678180" cy="3683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/>
            <a:p>
              <a:pPr marL="0" algn="l"/>
              <a:endParaRPr lang="en-US" sz="1800" b="0" i="0" u="none" baseline="0" dirty="0">
                <a:solidFill>
                  <a:srgbClr val="003E8B"/>
                </a:solidFill>
                <a:latin typeface="思源黑体 Normal"/>
                <a:ea typeface="思源黑体 Normal"/>
              </a:endParaRPr>
            </a:p>
          </p:txBody>
        </p:sp>
      </p:grp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Created By AI</a:t>
            </a:r>
            <a:endParaRPr 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4AA6F-F2DD-4427-818E-5981AD63D9FD}"/>
              </a:ext>
            </a:extLst>
          </p:cNvPr>
          <p:cNvSpPr txBox="1"/>
          <p:nvPr/>
        </p:nvSpPr>
        <p:spPr>
          <a:xfrm>
            <a:off x="685800" y="4191000"/>
            <a:ext cx="4191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Team Members</a:t>
            </a:r>
            <a:endParaRPr lang="en-US" sz="2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en-US" sz="2400" b="1" dirty="0" err="1">
                <a:solidFill>
                  <a:srgbClr val="262626"/>
                </a:solidFill>
                <a:latin typeface="思源黑体 Normal"/>
                <a:ea typeface="思源黑体 Normal"/>
              </a:rPr>
              <a:t>Maharudra</a:t>
            </a:r>
            <a:r>
              <a:rPr lang="en-US" sz="2400" b="1" dirty="0">
                <a:solidFill>
                  <a:srgbClr val="262626"/>
                </a:solidFill>
                <a:latin typeface="思源黑体 Normal"/>
                <a:ea typeface="思源黑体 Normal"/>
              </a:rPr>
              <a:t> Patil</a:t>
            </a: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262626"/>
                </a:solidFill>
                <a:latin typeface="思源黑体 Normal"/>
              </a:rPr>
              <a:t>Yash </a:t>
            </a:r>
            <a:r>
              <a:rPr lang="en-US" sz="2400" b="1" dirty="0" err="1">
                <a:solidFill>
                  <a:srgbClr val="262626"/>
                </a:solidFill>
                <a:latin typeface="思源黑体 Normal"/>
              </a:rPr>
              <a:t>Umdale</a:t>
            </a:r>
            <a:endParaRPr lang="en-US" sz="2400" b="1" dirty="0">
              <a:solidFill>
                <a:srgbClr val="262626"/>
              </a:solidFill>
              <a:latin typeface="思源黑体 Normal"/>
            </a:endParaRP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262626"/>
                </a:solidFill>
                <a:latin typeface="思源黑体 Normal"/>
              </a:rPr>
              <a:t>Kartik Swami</a:t>
            </a:r>
            <a:endParaRPr lang="en-US" sz="24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17820" y="1661795"/>
            <a:ext cx="6407785" cy="6477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Introduction &amp; Project Overview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207510" y="1558290"/>
            <a:ext cx="997585" cy="87058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01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17820" y="2420620"/>
            <a:ext cx="6407785" cy="6477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Data and Methodology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207510" y="2289175"/>
            <a:ext cx="997585" cy="87058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02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5417820" y="3150870"/>
            <a:ext cx="6407785" cy="6477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Exploratory Data Analysis and Observations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207510" y="3047365"/>
            <a:ext cx="997585" cy="87058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03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5417820" y="3881120"/>
            <a:ext cx="6407785" cy="6477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Model Building and Evaluation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207510" y="3777615"/>
            <a:ext cx="997585" cy="87058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04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5417820" y="4613275"/>
            <a:ext cx="6407785" cy="6477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Conclusion and Future Scope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207510" y="4509770"/>
            <a:ext cx="997585" cy="87058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05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10260" y="2344420"/>
            <a:ext cx="3133725" cy="15709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ctr" fontAlgn="auto">
              <a:lnSpc>
                <a:spcPct val="108000"/>
              </a:lnSpc>
              <a:defRPr/>
            </a:pPr>
            <a:r>
              <a:rPr lang="en-US" sz="6640" b="0" i="0" u="none" spc="-442" baseline="0">
                <a:solidFill>
                  <a:srgbClr val="235586"/>
                </a:solidFill>
                <a:latin typeface="思源宋体 CN Medium"/>
                <a:ea typeface="思源宋体 CN Medium"/>
              </a:rPr>
              <a:t>Contents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5960" y="1483840"/>
            <a:ext cx="5147186" cy="247689"/>
          </a:xfrm>
          <a:prstGeom prst="rect">
            <a:avLst/>
          </a:prstGeom>
          <a:solidFill>
            <a:srgbClr val="235586"/>
          </a:solidFill>
          <a:ln>
            <a:noFill/>
          </a:ln>
          <a:effectLst>
            <a:outerShdw blurRad="254000" dist="101600" dir="2700000" algn="tl" rotWithShape="0">
              <a:schemeClr val="bg1">
                <a:alpha val="40000"/>
                <a:lumMod val="75000"/>
              </a:schemeClr>
            </a:outerShdw>
          </a:effectLst>
        </p:spPr>
        <p:txBody>
          <a:bodyPr vert="horz" wrap="square" lIns="90170" tIns="46990" rIns="90170" bIns="4699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95960" y="1617833"/>
            <a:ext cx="5147186" cy="4624217"/>
          </a:xfrm>
          <a:prstGeom prst="rect">
            <a:avLst/>
          </a:prstGeom>
          <a:solidFill>
            <a:srgbClr val="EFF2F7"/>
          </a:solidFill>
          <a:ln>
            <a:noFill/>
          </a:ln>
          <a:effectLst>
            <a:outerShdw blurRad="254000" dist="101600" dir="2700000" algn="tl" rotWithShape="0">
              <a:schemeClr val="tx1">
                <a:alpha val="15000"/>
                <a:lumMod val="75000"/>
                <a:lumOff val="25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348856" y="1494613"/>
            <a:ext cx="5147186" cy="247689"/>
          </a:xfrm>
          <a:prstGeom prst="rect">
            <a:avLst/>
          </a:prstGeom>
          <a:solidFill>
            <a:srgbClr val="235586"/>
          </a:solidFill>
          <a:ln>
            <a:noFill/>
          </a:ln>
          <a:effectLst>
            <a:outerShdw blurRad="254000" dist="101600" dir="2700000" algn="tl" rotWithShape="0">
              <a:schemeClr val="bg1">
                <a:alpha val="40000"/>
                <a:lumMod val="75000"/>
              </a:schemeClr>
            </a:outerShdw>
          </a:effectLst>
        </p:spPr>
        <p:txBody>
          <a:bodyPr vert="horz" wrap="square" lIns="90170" tIns="46990" rIns="90170" bIns="4699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48856" y="1628606"/>
            <a:ext cx="5147186" cy="4624217"/>
          </a:xfrm>
          <a:prstGeom prst="rect">
            <a:avLst/>
          </a:prstGeom>
          <a:solidFill>
            <a:srgbClr val="EFF2F7"/>
          </a:solidFill>
          <a:ln>
            <a:noFill/>
          </a:ln>
          <a:effectLst>
            <a:outerShdw blurRad="254000" dist="101600" dir="2700000" algn="tl" rotWithShape="0">
              <a:schemeClr val="tx1">
                <a:alpha val="15000"/>
                <a:lumMod val="75000"/>
                <a:lumOff val="25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109250" y="3051737"/>
            <a:ext cx="4319905" cy="252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Manual loan approval is slow and prone to errors, creating inefficiencies in financial institutions. Machine learning offers a pathway to enhance speed and accuracy in this critical process.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42360" y="3051737"/>
            <a:ext cx="3960000" cy="252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The primary objective is to build a predictive model for loan approval. This aims to reduce financial risk, enable automated assessments, and provide consistent, data-driven decisions for banks.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42360" y="2176145"/>
            <a:ext cx="432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Core Project Goal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09250" y="2176145"/>
            <a:ext cx="432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Banking Process Challenge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35586"/>
          </a:solidFill>
        </p:spPr>
      </p:sp>
      <p:sp>
        <p:nvSpPr>
          <p:cNvPr id="11" name="TextBox 1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35586"/>
                </a:solidFill>
                <a:latin typeface="思源黑体 Normal"/>
                <a:ea typeface="思源黑体 Normal"/>
              </a:rPr>
              <a:t>Project Objective and Context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35586"/>
                </a:solidFill>
                <a:latin typeface="思源黑体 Normal"/>
                <a:ea typeface="思源黑体 Normal"/>
              </a:rPr>
              <a:t>Problem Statement and Key Goals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35586"/>
          </a:solidFill>
        </p:spPr>
      </p:sp>
      <p:grpSp>
        <p:nvGrpSpPr>
          <p:cNvPr id="5" name="Group 5"/>
          <p:cNvGrpSpPr/>
          <p:nvPr/>
        </p:nvGrpSpPr>
        <p:grpSpPr>
          <a:xfrm>
            <a:off x="685165" y="1434816"/>
            <a:ext cx="6076950" cy="4888230"/>
            <a:chOff x="1079" y="2205"/>
            <a:chExt cx="9570" cy="7698"/>
          </a:xfrm>
        </p:grpSpPr>
        <p:grpSp>
          <p:nvGrpSpPr>
            <p:cNvPr id="6" name="Group 6"/>
            <p:cNvGrpSpPr/>
            <p:nvPr/>
          </p:nvGrpSpPr>
          <p:grpSpPr>
            <a:xfrm>
              <a:off x="1079" y="6223"/>
              <a:ext cx="9524" cy="3681"/>
              <a:chOff x="1079" y="6223"/>
              <a:chExt cx="9524" cy="3681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79" y="7070"/>
                <a:ext cx="9524" cy="2835"/>
              </a:xfrm>
              <a:prstGeom prst="rect">
                <a:avLst/>
              </a:prstGeom>
            </p:spPr>
            <p:txBody>
              <a:bodyPr vert="horz" wrap="square" lIns="90170" tIns="46990" rIns="90170" bIns="46990" rtlCol="0" anchor="t">
                <a:normAutofit/>
              </a:bodyPr>
              <a:lstStyle/>
              <a:p>
                <a:pPr marL="0" indent="0" algn="just" fontAlgn="auto">
                  <a:lnSpc>
                    <a:spcPct val="150000"/>
                  </a:lnSpc>
                  <a:defRPr/>
                </a:pPr>
                <a:r>
                  <a:rPr lang="en-US" sz="1500" b="0" i="0" u="none" baseline="0">
                    <a:solidFill>
                      <a:srgbClr val="262626"/>
                    </a:solidFill>
                    <a:latin typeface="思源黑体 Normal"/>
                    <a:ea typeface="思源黑体 Normal"/>
                  </a:rPr>
                  <a:t>Key goals include reducing financial risk for lenders, providing consistent and objective decision-making, and enabling a more efficient, automated financial assessment workflow.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79" y="6223"/>
                <a:ext cx="9524" cy="850"/>
              </a:xfrm>
              <a:prstGeom prst="rect">
                <a:avLst/>
              </a:prstGeom>
              <a:noFill/>
            </p:spPr>
            <p:txBody>
              <a:bodyPr vert="horz" wrap="square" lIns="90170" tIns="46990" rIns="90170" bIns="46990" rtlCol="0" anchor="ctr">
                <a:normAutofit/>
              </a:bodyPr>
              <a:lstStyle/>
              <a:p>
                <a:pPr marL="0" indent="0" algn="l" fontAlgn="auto">
                  <a:lnSpc>
                    <a:spcPct val="100000"/>
                  </a:lnSpc>
                  <a:defRPr/>
                </a:pPr>
                <a:r>
                  <a:rPr lang="en-US" sz="2000" b="1" i="0" u="none" baseline="0">
                    <a:solidFill>
                      <a:srgbClr val="235586"/>
                    </a:solidFill>
                    <a:latin typeface="思源黑体 Normal"/>
                    <a:ea typeface="思源黑体 Normal"/>
                  </a:rPr>
                  <a:t>Strategic Goals</a:t>
                </a:r>
                <a:endParaRPr lang="en-US" sz="1100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125" y="3055"/>
              <a:ext cx="9524" cy="2835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5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core problem is to predict whether a loan application will be approved or denied. This prediction is based on key applicant data points such as income, credit history, and loan amount.</a:t>
              </a:r>
              <a:endParaRPr lang="en-US" sz="11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" y="2205"/>
              <a:ext cx="9524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2000" b="1" i="0" u="none" baseline="0">
                  <a:solidFill>
                    <a:srgbClr val="235586"/>
                  </a:solidFill>
                  <a:latin typeface="思源黑体 Normal"/>
                  <a:ea typeface="思源黑体 Normal"/>
                </a:rPr>
                <a:t>Predictive Problem Definition</a:t>
              </a:r>
              <a:endParaRPr lang="en-US" sz="110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BF5BD-7F39-460B-A4F3-C40125534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200" y="3613503"/>
            <a:ext cx="4133850" cy="18211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B78646-1058-4F7E-8F57-7F081C4F2E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200" y="1217328"/>
            <a:ext cx="4133850" cy="1647825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6595" y="2295525"/>
            <a:ext cx="5102225" cy="3612515"/>
          </a:xfrm>
          <a:prstGeom prst="roundRect">
            <a:avLst>
              <a:gd name="adj" fmla="val 0"/>
            </a:avLst>
          </a:prstGeom>
          <a:solidFill>
            <a:srgbClr val="EFF2F7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61390" y="1760855"/>
            <a:ext cx="793750" cy="777875"/>
          </a:xfrm>
          <a:prstGeom prst="roundRect">
            <a:avLst>
              <a:gd name="adj" fmla="val 0"/>
            </a:avLst>
          </a:prstGeom>
          <a:solidFill>
            <a:srgbClr val="235586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01</a:t>
            </a:r>
          </a:p>
        </p:txBody>
      </p:sp>
      <p:cxnSp>
        <p:nvCxnSpPr>
          <p:cNvPr id="4" name="Connector 4"/>
          <p:cNvCxnSpPr/>
          <p:nvPr/>
        </p:nvCxnSpPr>
        <p:spPr>
          <a:xfrm flipV="1">
            <a:off x="916305" y="3330575"/>
            <a:ext cx="4662805" cy="0"/>
          </a:xfrm>
          <a:prstGeom prst="line">
            <a:avLst/>
          </a:prstGeom>
          <a:ln w="22225">
            <a:solidFill>
              <a:srgbClr val="235586">
                <a:alpha val="50000"/>
              </a:srgbClr>
            </a:solidFill>
          </a:ln>
        </p:spPr>
      </p:cxnSp>
      <p:sp>
        <p:nvSpPr>
          <p:cNvPr id="5" name="AutoShape 5"/>
          <p:cNvSpPr/>
          <p:nvPr/>
        </p:nvSpPr>
        <p:spPr>
          <a:xfrm>
            <a:off x="6393815" y="2295525"/>
            <a:ext cx="5102225" cy="3612515"/>
          </a:xfrm>
          <a:prstGeom prst="roundRect">
            <a:avLst>
              <a:gd name="adj" fmla="val 0"/>
            </a:avLst>
          </a:prstGeom>
          <a:solidFill>
            <a:srgbClr val="EFF2F7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57975" y="1760855"/>
            <a:ext cx="793750" cy="777875"/>
          </a:xfrm>
          <a:prstGeom prst="roundRect">
            <a:avLst>
              <a:gd name="adj" fmla="val 0"/>
            </a:avLst>
          </a:prstGeom>
          <a:solidFill>
            <a:srgbClr val="235586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chemeClr val="lt1"/>
                </a:solidFill>
                <a:latin typeface="思源黑体 Medium"/>
                <a:ea typeface="思源黑体 Medium"/>
              </a:rPr>
              <a:t>02</a:t>
            </a:r>
          </a:p>
        </p:txBody>
      </p:sp>
      <p:cxnSp>
        <p:nvCxnSpPr>
          <p:cNvPr id="7" name="Connector 7"/>
          <p:cNvCxnSpPr/>
          <p:nvPr/>
        </p:nvCxnSpPr>
        <p:spPr>
          <a:xfrm flipV="1">
            <a:off x="6614160" y="3336290"/>
            <a:ext cx="4662170" cy="0"/>
          </a:xfrm>
          <a:prstGeom prst="line">
            <a:avLst/>
          </a:prstGeom>
          <a:ln w="22225">
            <a:solidFill>
              <a:srgbClr val="235586">
                <a:alpha val="50000"/>
              </a:srgbClr>
            </a:solidFill>
          </a:ln>
        </p:spPr>
      </p:cxn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35586"/>
                </a:solidFill>
                <a:latin typeface="思源黑体 Normal"/>
                <a:ea typeface="思源黑体 Normal"/>
              </a:rPr>
              <a:t>Dataset Description and Sources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35586"/>
          </a:solidFill>
        </p:spPr>
      </p:sp>
      <p:sp>
        <p:nvSpPr>
          <p:cNvPr id="10" name="TextBox 10"/>
          <p:cNvSpPr txBox="1"/>
          <p:nvPr/>
        </p:nvSpPr>
        <p:spPr>
          <a:xfrm>
            <a:off x="961390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Data Source and Structure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961390" y="3343275"/>
            <a:ext cx="45360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project utilizes the Kaggle Loan Dataset, a structured dataset containing features like Income, Loan Amount, Credit History, and Employment status. The target variable is Loan_Status.</a:t>
            </a: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657975" y="3343275"/>
            <a:ext cx="45360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methodology follows a clear pipeline: Data Collection → Preprocessing → Exploratory Data Analysis (EDA) → Model Building → Evaluation → Insights.</a:t>
            </a: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57975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Methodological Framework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2700000">
            <a:off x="10765790" y="5950585"/>
            <a:ext cx="492760" cy="492760"/>
          </a:xfrm>
          <a:prstGeom prst="rect">
            <a:avLst/>
          </a:prstGeom>
          <a:gradFill>
            <a:gsLst>
              <a:gs pos="0">
                <a:schemeClr val="accent1">
                  <a:lumMod val="25000"/>
                  <a:lumOff val="75000"/>
                </a:schemeClr>
              </a:gs>
              <a:gs pos="50000">
                <a:schemeClr val="accent1"/>
              </a:gs>
              <a:gs pos="100000">
                <a:schemeClr val="accent1">
                  <a:lumMod val="85000"/>
                </a:schemeClr>
              </a:gs>
            </a:gsLst>
            <a:lin ang="54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 rot="2700000">
            <a:off x="7295193" y="912715"/>
            <a:ext cx="1193632" cy="1193632"/>
          </a:xfrm>
          <a:prstGeom prst="rect">
            <a:avLst/>
          </a:prstGeom>
          <a:gradFill>
            <a:gsLst>
              <a:gs pos="0">
                <a:schemeClr val="accent3">
                  <a:lumMod val="25000"/>
                  <a:lumOff val="75000"/>
                </a:schemeClr>
              </a:gs>
              <a:gs pos="50000">
                <a:schemeClr val="accent3"/>
              </a:gs>
              <a:gs pos="100000">
                <a:schemeClr val="accent3">
                  <a:lumMod val="85000"/>
                </a:schemeClr>
              </a:gs>
            </a:gsLst>
            <a:lin ang="54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4" name="image76.jpeg"/>
          <p:cNvPicPr>
            <a:picLocks noChangeAspect="1"/>
          </p:cNvPicPr>
          <p:nvPr/>
        </p:nvPicPr>
        <p:blipFill>
          <a:blip r:embed="rId3"/>
          <a:srcRect l="24354" r="24354"/>
          <a:stretch>
            <a:fillRect/>
          </a:stretch>
        </p:blipFill>
        <p:spPr>
          <a:xfrm>
            <a:off x="6924519" y="9028"/>
            <a:ext cx="5267481" cy="6843717"/>
          </a:xfrm>
          <a:custGeom>
            <a:avLst/>
            <a:gdLst/>
            <a:ahLst/>
            <a:cxnLst/>
            <a:rect l="0" t="0" r="0" b="0"/>
            <a:pathLst>
              <a:path w="5267481" h="6843717">
                <a:moveTo>
                  <a:pt x="2404584" y="4158172"/>
                </a:moveTo>
                <a:lnTo>
                  <a:pt x="3951434" y="5705021"/>
                </a:lnTo>
                <a:lnTo>
                  <a:pt x="2812737" y="6843717"/>
                </a:lnTo>
                <a:lnTo>
                  <a:pt x="1996432" y="6843717"/>
                </a:lnTo>
                <a:lnTo>
                  <a:pt x="857735" y="5705021"/>
                </a:lnTo>
                <a:close/>
                <a:moveTo>
                  <a:pt x="1114899" y="2948647"/>
                </a:moveTo>
                <a:lnTo>
                  <a:pt x="2229798" y="4063546"/>
                </a:lnTo>
                <a:lnTo>
                  <a:pt x="1114899" y="5178445"/>
                </a:lnTo>
                <a:lnTo>
                  <a:pt x="0" y="4063546"/>
                </a:lnTo>
                <a:close/>
                <a:moveTo>
                  <a:pt x="3778600" y="0"/>
                </a:moveTo>
                <a:lnTo>
                  <a:pt x="4460202" y="0"/>
                </a:lnTo>
                <a:lnTo>
                  <a:pt x="5267481" y="807279"/>
                </a:lnTo>
                <a:lnTo>
                  <a:pt x="5267481" y="4384207"/>
                </a:lnTo>
                <a:lnTo>
                  <a:pt x="4119401" y="5532287"/>
                </a:lnTo>
                <a:lnTo>
                  <a:pt x="1182857" y="2595743"/>
                </a:lnTo>
                <a:close/>
              </a:path>
            </a:pathLst>
          </a:cu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grpSp>
        <p:nvGrpSpPr>
          <p:cNvPr id="5" name="Group 5"/>
          <p:cNvGrpSpPr/>
          <p:nvPr/>
        </p:nvGrpSpPr>
        <p:grpSpPr>
          <a:xfrm>
            <a:off x="873125" y="2162156"/>
            <a:ext cx="5730875" cy="3413760"/>
            <a:chOff x="1805" y="3251"/>
            <a:chExt cx="7936" cy="5376"/>
          </a:xfrm>
        </p:grpSpPr>
        <p:sp>
          <p:nvSpPr>
            <p:cNvPr id="6" name="TextBox 6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preprocessing stage involved handling missing values, removing inconsistencies, and encoding categorical variables. Feature scaling was also applied to prepare the dataset for effective modeling.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235586"/>
                  </a:solidFill>
                  <a:latin typeface="思源黑体 Normal"/>
                  <a:ea typeface="思源黑体 Normal"/>
                </a:rPr>
                <a:t>Data Cleaning and Preparation</a:t>
              </a:r>
              <a:endParaRPr lang="en-US" sz="110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35586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35586"/>
                </a:solidFill>
                <a:latin typeface="思源黑体 Normal"/>
                <a:ea typeface="思源黑体 Normal"/>
              </a:rPr>
              <a:t>Data Preprocessing Steps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09085" y="2458085"/>
            <a:ext cx="8077200" cy="2881630"/>
          </a:xfrm>
          <a:prstGeom prst="rect">
            <a:avLst/>
          </a:prstGeom>
          <a:solidFill>
            <a:srgbClr val="EFF2F7"/>
          </a:solidFill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ctr">
              <a:lnSpc>
                <a:spcPts val="2660"/>
              </a:lnSpc>
              <a:spcBef>
                <a:spcPct val="0"/>
              </a:spcBef>
              <a:defRPr/>
            </a:pP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685800" y="1871345"/>
            <a:ext cx="4126865" cy="412686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35586"/>
          </a:solidFill>
          <a:ln cap="sq">
            <a:noFill/>
            <a:prstDash val="solid"/>
            <a:miter lim="800000"/>
          </a:ln>
        </p:spPr>
      </p:sp>
      <p:sp>
        <p:nvSpPr>
          <p:cNvPr id="5" name="TextBox 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235586"/>
                </a:solidFill>
                <a:latin typeface="思源黑体 Normal"/>
                <a:ea typeface="思源黑体 Normal"/>
              </a:rPr>
              <a:t>Analysis and Visualization</a:t>
            </a:r>
            <a:endParaRPr lang="en-US" sz="1100" dirty="0"/>
          </a:p>
        </p:txBody>
      </p:sp>
      <p:sp>
        <p:nvSpPr>
          <p:cNvPr id="6" name="TextBox 6"/>
          <p:cNvSpPr txBox="1"/>
          <p:nvPr/>
        </p:nvSpPr>
        <p:spPr>
          <a:xfrm>
            <a:off x="5191760" y="3215005"/>
            <a:ext cx="6480175" cy="1800225"/>
          </a:xfrm>
          <a:prstGeom prst="rect">
            <a:avLst/>
          </a:prstGeom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Exploratory Data Analysis involved analyzing data distribution and creating key visualizations, including a loan approval distribution chart and a correlation heatmap. The purpose was to identify patterns and understand feature importance.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5191760" y="2783205"/>
            <a:ext cx="6480175" cy="4318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EDA Process and Purpose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35586"/>
          </a:solid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6411EC-F9FF-46B1-8D37-714E7A2ADF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971800"/>
            <a:ext cx="3550284" cy="1908800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86600" y="1161457"/>
            <a:ext cx="4570894" cy="4535086"/>
            <a:chOff x="10570" y="2519"/>
            <a:chExt cx="7198" cy="7142"/>
          </a:xfrm>
        </p:grpSpPr>
        <p:sp>
          <p:nvSpPr>
            <p:cNvPr id="3" name="Freeform 3"/>
            <p:cNvSpPr/>
            <p:nvPr/>
          </p:nvSpPr>
          <p:spPr>
            <a:xfrm rot="11588930">
              <a:off x="10570" y="2844"/>
              <a:ext cx="6944" cy="6816"/>
            </a:xfrm>
            <a:custGeom>
              <a:avLst/>
              <a:gdLst/>
              <a:ahLst/>
              <a:cxnLst/>
              <a:rect l="l" t="t" r="r" b="b"/>
              <a:pathLst>
                <a:path w="2879096" h="2825937">
                  <a:moveTo>
                    <a:pt x="155801" y="656522"/>
                  </a:moveTo>
                  <a:cubicBezTo>
                    <a:pt x="280483" y="472785"/>
                    <a:pt x="506988" y="388965"/>
                    <a:pt x="723967" y="435637"/>
                  </a:cubicBezTo>
                  <a:cubicBezTo>
                    <a:pt x="907228" y="475071"/>
                    <a:pt x="1281656" y="484786"/>
                    <a:pt x="1725140" y="102453"/>
                  </a:cubicBezTo>
                  <a:cubicBezTo>
                    <a:pt x="1725140" y="102453"/>
                    <a:pt x="2146336" y="-241209"/>
                    <a:pt x="2574960" y="330291"/>
                  </a:cubicBezTo>
                  <a:cubicBezTo>
                    <a:pt x="3003585" y="901791"/>
                    <a:pt x="2879760" y="1720941"/>
                    <a:pt x="2794035" y="1930491"/>
                  </a:cubicBezTo>
                  <a:cubicBezTo>
                    <a:pt x="2708310" y="2140041"/>
                    <a:pt x="2460660" y="2835366"/>
                    <a:pt x="1851061" y="2825841"/>
                  </a:cubicBezTo>
                  <a:cubicBezTo>
                    <a:pt x="1241461" y="2816316"/>
                    <a:pt x="1451011" y="2175093"/>
                    <a:pt x="603286" y="1933729"/>
                  </a:cubicBezTo>
                  <a:cubicBezTo>
                    <a:pt x="-244440" y="1692366"/>
                    <a:pt x="22260" y="920841"/>
                    <a:pt x="107985" y="739866"/>
                  </a:cubicBezTo>
                  <a:cubicBezTo>
                    <a:pt x="121606" y="711291"/>
                    <a:pt x="137608" y="683288"/>
                    <a:pt x="155801" y="656522"/>
                  </a:cubicBezTo>
                  <a:close/>
                </a:path>
              </a:pathLst>
            </a:custGeom>
            <a:noFill/>
            <a:ln w="952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  <p:pic>
          <p:nvPicPr>
            <p:cNvPr id="4" name="image70.jpeg"/>
            <p:cNvPicPr>
              <a:picLocks noChangeAspect="1"/>
            </p:cNvPicPr>
            <p:nvPr/>
          </p:nvPicPr>
          <p:blipFill rotWithShape="1">
            <a:blip r:embed="rId3"/>
            <a:srcRect l="14004" t="-5" r="14003" b="5"/>
            <a:stretch>
              <a:fillRect/>
            </a:stretch>
          </p:blipFill>
          <p:spPr>
            <a:xfrm rot="21445174">
              <a:off x="10657" y="2793"/>
              <a:ext cx="7111" cy="6598"/>
            </a:xfrm>
            <a:custGeom>
              <a:avLst/>
              <a:gdLst/>
              <a:ahLst/>
              <a:cxnLst/>
              <a:rect l="0" t="0" r="0" b="0"/>
              <a:pathLst>
                <a:path w="4515311" h="4189463">
                  <a:moveTo>
                    <a:pt x="1139864" y="1681"/>
                  </a:moveTo>
                  <a:cubicBezTo>
                    <a:pt x="1666331" y="38907"/>
                    <a:pt x="1958762" y="680183"/>
                    <a:pt x="3039740" y="494141"/>
                  </a:cubicBezTo>
                  <a:cubicBezTo>
                    <a:pt x="4370176" y="265163"/>
                    <a:pt x="4513638" y="1507199"/>
                    <a:pt x="4515307" y="1813904"/>
                  </a:cubicBezTo>
                  <a:cubicBezTo>
                    <a:pt x="4515453" y="1862388"/>
                    <a:pt x="4511932" y="1911661"/>
                    <a:pt x="4504565" y="1960680"/>
                  </a:cubicBezTo>
                  <a:cubicBezTo>
                    <a:pt x="4454282" y="2297034"/>
                    <a:pt x="4197159" y="2562971"/>
                    <a:pt x="3866646" y="2642434"/>
                  </a:cubicBezTo>
                  <a:cubicBezTo>
                    <a:pt x="3587485" y="2709528"/>
                    <a:pt x="3064108" y="2944432"/>
                    <a:pt x="2705395" y="3766393"/>
                  </a:cubicBezTo>
                  <a:cubicBezTo>
                    <a:pt x="2705395" y="3766393"/>
                    <a:pt x="2351807" y="4520184"/>
                    <a:pt x="1381038" y="4015432"/>
                  </a:cubicBezTo>
                  <a:cubicBezTo>
                    <a:pt x="410268" y="3510681"/>
                    <a:pt x="37969" y="2297647"/>
                    <a:pt x="17349" y="1951491"/>
                  </a:cubicBezTo>
                  <a:cubicBezTo>
                    <a:pt x="-3270" y="1605335"/>
                    <a:pt x="-122497" y="481134"/>
                    <a:pt x="725429" y="90005"/>
                  </a:cubicBezTo>
                  <a:cubicBezTo>
                    <a:pt x="884415" y="16668"/>
                    <a:pt x="1018371" y="-6910"/>
                    <a:pt x="1139864" y="1681"/>
                  </a:cubicBezTo>
                  <a:close/>
                </a:path>
              </a:pathLst>
            </a:cu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  <p:sp>
          <p:nvSpPr>
            <p:cNvPr id="5" name="AutoShape 5"/>
            <p:cNvSpPr/>
            <p:nvPr/>
          </p:nvSpPr>
          <p:spPr>
            <a:xfrm>
              <a:off x="13808" y="2519"/>
              <a:ext cx="404" cy="404"/>
            </a:xfrm>
            <a:prstGeom prst="ellipse">
              <a:avLst/>
            </a:prstGeom>
            <a:gradFill>
              <a:gsLst>
                <a:gs pos="0">
                  <a:schemeClr val="accent2">
                    <a:lumMod val="25000"/>
                    <a:lumOff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85000"/>
                  </a:schemeClr>
                </a:gs>
              </a:gsLst>
              <a:lin ang="5400000"/>
            </a:gra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16460" y="8648"/>
              <a:ext cx="252" cy="2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3620" y="1551940"/>
            <a:ext cx="5435600" cy="4601210"/>
            <a:chOff x="1657" y="2489"/>
            <a:chExt cx="8560" cy="7246"/>
          </a:xfrm>
        </p:grpSpPr>
        <p:sp>
          <p:nvSpPr>
            <p:cNvPr id="8" name="AutoShape 8"/>
            <p:cNvSpPr/>
            <p:nvPr/>
          </p:nvSpPr>
          <p:spPr>
            <a:xfrm>
              <a:off x="1657" y="335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Credit history emerged as the strongest predictor for loan approval. Higher income levels were directly correlated with higher approval chances, and financial features dominated the decision-making process.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7" y="2489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 i="0" u="none" baseline="0">
                  <a:solidFill>
                    <a:srgbClr val="235586"/>
                  </a:solidFill>
                  <a:latin typeface="思源黑体 Normal"/>
                  <a:ea typeface="思源黑体 Normal"/>
                </a:rPr>
                <a:t>Primary Predictive Factors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657" y="707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While some features showed moderate influence, the analysis confirmed that financial stability and creditworthiness are the most critical factors in determining loan outcomes.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57" y="6226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 i="0" u="none" baseline="0">
                  <a:solidFill>
                    <a:srgbClr val="235586"/>
                  </a:solidFill>
                  <a:latin typeface="思源黑体 Normal"/>
                  <a:ea typeface="思源黑体 Normal"/>
                </a:rPr>
                <a:t>Additional Feature Influence</a:t>
              </a:r>
              <a:endParaRPr lang="en-US" sz="11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35586"/>
          </a:solidFill>
        </p:spPr>
      </p:sp>
      <p:sp>
        <p:nvSpPr>
          <p:cNvPr id="13" name="TextBox 1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35586"/>
                </a:solidFill>
                <a:latin typeface="思源黑体 Normal"/>
                <a:ea typeface="思源黑体 Normal"/>
              </a:rPr>
              <a:t>Key Insights from Data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10800000">
            <a:off x="2148695" y="1338360"/>
            <a:ext cx="9000000" cy="2304000"/>
          </a:xfrm>
          <a:prstGeom prst="rect">
            <a:avLst/>
          </a:prstGeom>
          <a:solidFill>
            <a:srgbClr val="EFF2F7"/>
          </a:solidFill>
          <a:ln>
            <a:solidFill>
              <a:schemeClr val="accent1"/>
            </a:solidFill>
          </a:ln>
        </p:spPr>
        <p:txBody>
          <a:bodyPr vert="horz" lIns="50800" tIns="50800" rIns="50800" bIns="50800" rtlCol="0" anchor="ctr">
            <a:normAutofit/>
          </a:bodyPr>
          <a:lstStyle/>
          <a:p>
            <a:pPr marL="0" indent="0" algn="ctr">
              <a:lnSpc>
                <a:spcPts val="2725"/>
              </a:lnSpc>
              <a:spcBef>
                <a:spcPct val="0"/>
              </a:spcBef>
              <a:defRPr/>
            </a:pP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 rot="-10800000">
            <a:off x="2148695" y="4026950"/>
            <a:ext cx="9000000" cy="2304000"/>
          </a:xfrm>
          <a:prstGeom prst="rect">
            <a:avLst/>
          </a:prstGeom>
          <a:solidFill>
            <a:srgbClr val="EFF2F7"/>
          </a:solidFill>
          <a:ln>
            <a:solidFill>
              <a:schemeClr val="accent1"/>
            </a:solidFill>
          </a:ln>
        </p:spPr>
        <p:txBody>
          <a:bodyPr vert="horz" lIns="50800" tIns="50800" rIns="50800" bIns="50800" rtlCol="0" anchor="ctr">
            <a:normAutofit/>
          </a:bodyPr>
          <a:lstStyle/>
          <a:p>
            <a:pPr marL="0" indent="0" algn="ctr">
              <a:lnSpc>
                <a:spcPts val="2725"/>
              </a:lnSpc>
              <a:spcBef>
                <a:spcPct val="0"/>
              </a:spcBef>
              <a:defRPr/>
            </a:pP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928370" y="4625865"/>
            <a:ext cx="1106170" cy="1106170"/>
            <a:chOff x="892" y="7111"/>
            <a:chExt cx="1742" cy="1742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892" y="7111"/>
              <a:ext cx="1742" cy="1742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558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83" y="7408"/>
              <a:ext cx="1361" cy="114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rgbClr val="FFFFFF"/>
                  </a:solidFill>
                  <a:latin typeface="思源黑体 Normal"/>
                  <a:ea typeface="思源黑体 Normal"/>
                </a:rPr>
                <a:t>02</a:t>
              </a:r>
              <a:endParaRPr lang="en-US" sz="11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28545" y="4767580"/>
            <a:ext cx="8639810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These models were selected because they are well-suited for classification problems and provide interpretable results, which is crucial for financial decision-making systems.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2328545" y="4227195"/>
            <a:ext cx="863981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Model Selection Rationale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328545" y="2076450"/>
            <a:ext cx="8639810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project employed several models suitable for classification: Logistic Regression, K-Nearest Neighbors (KNN), and Naive Bayes. These models were chosen for their interpretability and suitability for the problem.</a:t>
            </a:r>
            <a:endParaRPr lang="en-US" sz="1100"/>
          </a:p>
        </p:txBody>
      </p:sp>
      <p:grpSp>
        <p:nvGrpSpPr>
          <p:cNvPr id="10" name="Group 10"/>
          <p:cNvGrpSpPr/>
          <p:nvPr/>
        </p:nvGrpSpPr>
        <p:grpSpPr>
          <a:xfrm>
            <a:off x="928370" y="1937275"/>
            <a:ext cx="1106170" cy="1106170"/>
            <a:chOff x="1237" y="3051"/>
            <a:chExt cx="1742" cy="1742"/>
          </a:xfrm>
        </p:grpSpPr>
        <p:sp>
          <p:nvSpPr>
            <p:cNvPr id="11" name="Freeform 11"/>
            <p:cNvSpPr/>
            <p:nvPr/>
          </p:nvSpPr>
          <p:spPr>
            <a:xfrm>
              <a:off x="1237" y="3051"/>
              <a:ext cx="1742" cy="1742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55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28" y="3348"/>
              <a:ext cx="1361" cy="114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rgbClr val="FFFFFF"/>
                  </a:solidFill>
                  <a:latin typeface="思源黑体 Normal"/>
                  <a:ea typeface="思源黑体 Normal"/>
                </a:rPr>
                <a:t>01</a:t>
              </a:r>
              <a:endParaRPr lang="en-US" sz="11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328545" y="1536700"/>
            <a:ext cx="863981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Classification Models Used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35586"/>
                </a:solidFill>
                <a:latin typeface="思源黑体 Normal"/>
                <a:ea typeface="思源黑体 Normal"/>
              </a:rPr>
              <a:t>Model Selection and Rationale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35586"/>
          </a:solidFill>
        </p:spPr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3.jpeg"/>
          <p:cNvPicPr>
            <a:picLocks noChangeAspect="1"/>
          </p:cNvPicPr>
          <p:nvPr/>
        </p:nvPicPr>
        <p:blipFill>
          <a:blip r:embed="rId3"/>
          <a:srcRect l="21930" r="21930"/>
          <a:stretch>
            <a:fillRect/>
          </a:stretch>
        </p:blipFill>
        <p:spPr>
          <a:xfrm>
            <a:off x="6700520" y="0"/>
            <a:ext cx="5491480" cy="5495925"/>
          </a:xfrm>
          <a:custGeom>
            <a:avLst/>
            <a:gdLst/>
            <a:ahLst/>
            <a:cxnLst/>
            <a:rect l="0" t="0" r="0" b="0"/>
            <a:pathLst>
              <a:path w="6036950" h="6040857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>
            <a:solidFill>
              <a:schemeClr val="tx1">
                <a:alpha val="50000"/>
                <a:lumMod val="40000"/>
                <a:lumOff val="60000"/>
              </a:schemeClr>
            </a:solidFill>
            <a:prstDash val="solid"/>
          </a:ln>
          <a:effectLst>
            <a:outerShdw dist="254000" dir="4200000" algn="ctr" rotWithShape="0">
              <a:schemeClr val="accent1">
                <a:alpha val="15000"/>
              </a:scheme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685165" y="1831975"/>
            <a:ext cx="5594985" cy="198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Model evaluation used metrics like Accuracy, Precision, and a full Classification Report. Results showed Naive Bayes as the best performer, followed by Logistic Regression, with KNN showing lower performance.</a:t>
            </a: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685165" y="1292225"/>
            <a:ext cx="559498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Evaluation Metrics and Results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685165" y="4518660"/>
            <a:ext cx="5594985" cy="198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Naive Bayes was selected as the best model due to its high precision, which reduces false approvals. This makes it ideal for financial systems where minimizing risk is paramount.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685165" y="3978910"/>
            <a:ext cx="559498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Best Model Justification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35586"/>
          </a:solidFill>
        </p:spPr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235586"/>
                </a:solidFill>
                <a:latin typeface="思源黑体 Normal"/>
                <a:ea typeface="思源黑体 Normal"/>
              </a:rPr>
              <a:t>Model Performance and Best Model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81050" y="2128085"/>
            <a:ext cx="5435600" cy="16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analysis confirmed that credit history is the most important factor, income strongly affects approval, and overall financial stability significantly improves approval chances.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1050" y="1684655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Key Takeaways from Analysis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1050" y="4385375"/>
            <a:ext cx="5435600" cy="16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Machine learning can effectively automate the loan approval process, leading to improved efficiency and reliability in banking operations.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1050" y="3953375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Project Conclusion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235586"/>
                </a:solidFill>
                <a:latin typeface="思源黑体 Normal"/>
                <a:ea typeface="思源黑体 Normal"/>
              </a:rPr>
              <a:t>Project Insights and Conclusion</a:t>
            </a:r>
            <a:endParaRPr lang="en-US" sz="1100" dirty="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35586"/>
          </a:solid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9C3609-D3B7-4DF9-8BD1-A7BD91D491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948280"/>
            <a:ext cx="5435600" cy="3073702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3325" y="1769745"/>
            <a:ext cx="5232400" cy="4364355"/>
            <a:chOff x="1022247" y="1769914"/>
            <a:chExt cx="5232251" cy="4364186"/>
          </a:xfrm>
        </p:grpSpPr>
        <p:sp>
          <p:nvSpPr>
            <p:cNvPr id="3" name="Freeform 3"/>
            <p:cNvSpPr/>
            <p:nvPr/>
          </p:nvSpPr>
          <p:spPr>
            <a:xfrm>
              <a:off x="1022247" y="1769914"/>
              <a:ext cx="5232251" cy="4364186"/>
            </a:xfrm>
            <a:custGeom>
              <a:avLst/>
              <a:gdLst/>
              <a:ahLst/>
              <a:cxnLst/>
              <a:rect l="l" t="t" r="r" b="b"/>
              <a:pathLst>
                <a:path w="5232251" h="4239000">
                  <a:moveTo>
                    <a:pt x="575868" y="0"/>
                  </a:moveTo>
                  <a:lnTo>
                    <a:pt x="4096415" y="0"/>
                  </a:lnTo>
                  <a:lnTo>
                    <a:pt x="5232251" y="4239000"/>
                  </a:lnTo>
                  <a:lnTo>
                    <a:pt x="575868" y="4239000"/>
                  </a:lnTo>
                  <a:cubicBezTo>
                    <a:pt x="257825" y="4239000"/>
                    <a:pt x="0" y="3981175"/>
                    <a:pt x="0" y="3663132"/>
                  </a:cubicBezTo>
                  <a:lnTo>
                    <a:pt x="0" y="575868"/>
                  </a:lnTo>
                  <a:cubicBezTo>
                    <a:pt x="0" y="257825"/>
                    <a:pt x="257825" y="0"/>
                    <a:pt x="57586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0"/>
                    <a:lumMod val="60000"/>
                    <a:lumOff val="40000"/>
                  </a:schemeClr>
                </a:gs>
                <a:gs pos="100000">
                  <a:schemeClr val="accent2">
                    <a:alpha val="46000"/>
                    <a:lumMod val="60000"/>
                    <a:lumOff val="40000"/>
                  </a:schemeClr>
                </a:gs>
              </a:gsLst>
              <a:path path="rect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4" name="AutoShape 4"/>
            <p:cNvSpPr/>
            <p:nvPr/>
          </p:nvSpPr>
          <p:spPr>
            <a:xfrm>
              <a:off x="1203707" y="2017434"/>
              <a:ext cx="803982" cy="803979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1260827" y="2074554"/>
              <a:ext cx="689743" cy="689741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/>
                </a:gs>
              </a:gsLst>
              <a:lin ang="2700000"/>
            </a:gradFill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1508705" y="2315382"/>
              <a:ext cx="193988" cy="208085"/>
            </a:xfrm>
            <a:custGeom>
              <a:avLst/>
              <a:gdLst/>
              <a:ahLst/>
              <a:cxnLst/>
              <a:rect l="l" t="t" r="r" b="b"/>
              <a:pathLst>
                <a:path w="487477" h="522922">
                  <a:moveTo>
                    <a:pt x="8356" y="512114"/>
                  </a:moveTo>
                  <a:lnTo>
                    <a:pt x="8356" y="512114"/>
                  </a:lnTo>
                  <a:lnTo>
                    <a:pt x="8356" y="512114"/>
                  </a:lnTo>
                  <a:lnTo>
                    <a:pt x="7404" y="511161"/>
                  </a:lnTo>
                  <a:cubicBezTo>
                    <a:pt x="6451" y="510209"/>
                    <a:pt x="6451" y="509256"/>
                    <a:pt x="5499" y="508303"/>
                  </a:cubicBezTo>
                  <a:lnTo>
                    <a:pt x="5499" y="508303"/>
                  </a:lnTo>
                  <a:lnTo>
                    <a:pt x="5499" y="507351"/>
                  </a:lnTo>
                  <a:lnTo>
                    <a:pt x="4546" y="505446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2641" y="501636"/>
                  </a:lnTo>
                  <a:cubicBezTo>
                    <a:pt x="2641" y="501636"/>
                    <a:pt x="2641" y="500684"/>
                    <a:pt x="2641" y="500684"/>
                  </a:cubicBezTo>
                  <a:cubicBezTo>
                    <a:pt x="2641" y="499731"/>
                    <a:pt x="2641" y="499731"/>
                    <a:pt x="1689" y="498778"/>
                  </a:cubicBezTo>
                  <a:cubicBezTo>
                    <a:pt x="1689" y="497826"/>
                    <a:pt x="736" y="495921"/>
                    <a:pt x="736" y="494968"/>
                  </a:cubicBezTo>
                  <a:lnTo>
                    <a:pt x="736" y="492111"/>
                  </a:lnTo>
                  <a:cubicBezTo>
                    <a:pt x="736" y="490206"/>
                    <a:pt x="736" y="487349"/>
                    <a:pt x="736" y="485443"/>
                  </a:cubicBezTo>
                  <a:cubicBezTo>
                    <a:pt x="736" y="478776"/>
                    <a:pt x="2641" y="473061"/>
                    <a:pt x="5499" y="467346"/>
                  </a:cubicBezTo>
                  <a:lnTo>
                    <a:pt x="155041" y="151116"/>
                  </a:lnTo>
                  <a:cubicBezTo>
                    <a:pt x="157899" y="146353"/>
                    <a:pt x="158851" y="140639"/>
                    <a:pt x="158851" y="134924"/>
                  </a:cubicBezTo>
                  <a:lnTo>
                    <a:pt x="158851" y="19671"/>
                  </a:lnTo>
                  <a:lnTo>
                    <a:pt x="120751" y="19671"/>
                  </a:lnTo>
                  <a:lnTo>
                    <a:pt x="120751" y="621"/>
                  </a:lnTo>
                  <a:lnTo>
                    <a:pt x="368401" y="621"/>
                  </a:lnTo>
                  <a:lnTo>
                    <a:pt x="368401" y="19671"/>
                  </a:lnTo>
                  <a:lnTo>
                    <a:pt x="330301" y="19671"/>
                  </a:lnTo>
                  <a:lnTo>
                    <a:pt x="330301" y="134924"/>
                  </a:lnTo>
                  <a:cubicBezTo>
                    <a:pt x="330301" y="140639"/>
                    <a:pt x="331254" y="146353"/>
                    <a:pt x="334111" y="151116"/>
                  </a:cubicBezTo>
                  <a:lnTo>
                    <a:pt x="483654" y="467346"/>
                  </a:lnTo>
                  <a:cubicBezTo>
                    <a:pt x="489368" y="478776"/>
                    <a:pt x="489368" y="492111"/>
                    <a:pt x="485558" y="504493"/>
                  </a:cubicBezTo>
                  <a:lnTo>
                    <a:pt x="485558" y="504493"/>
                  </a:lnTo>
                  <a:lnTo>
                    <a:pt x="484606" y="506399"/>
                  </a:lnTo>
                  <a:cubicBezTo>
                    <a:pt x="479843" y="515924"/>
                    <a:pt x="470318" y="522591"/>
                    <a:pt x="459841" y="523543"/>
                  </a:cubicBezTo>
                  <a:lnTo>
                    <a:pt x="457936" y="523543"/>
                  </a:lnTo>
                  <a:lnTo>
                    <a:pt x="32168" y="523543"/>
                  </a:lnTo>
                  <a:lnTo>
                    <a:pt x="30264" y="523543"/>
                  </a:lnTo>
                  <a:cubicBezTo>
                    <a:pt x="29311" y="523543"/>
                    <a:pt x="28358" y="523543"/>
                    <a:pt x="27406" y="523543"/>
                  </a:cubicBezTo>
                  <a:cubicBezTo>
                    <a:pt x="26454" y="523543"/>
                    <a:pt x="24549" y="523543"/>
                    <a:pt x="23596" y="522591"/>
                  </a:cubicBezTo>
                  <a:lnTo>
                    <a:pt x="23596" y="522591"/>
                  </a:lnTo>
                  <a:cubicBezTo>
                    <a:pt x="21691" y="521639"/>
                    <a:pt x="19786" y="521639"/>
                    <a:pt x="17881" y="520686"/>
                  </a:cubicBezTo>
                  <a:lnTo>
                    <a:pt x="15976" y="519734"/>
                  </a:lnTo>
                  <a:cubicBezTo>
                    <a:pt x="15976" y="519734"/>
                    <a:pt x="15024" y="519734"/>
                    <a:pt x="15024" y="518781"/>
                  </a:cubicBezTo>
                  <a:cubicBezTo>
                    <a:pt x="13118" y="517828"/>
                    <a:pt x="11214" y="515924"/>
                    <a:pt x="10261" y="514971"/>
                  </a:cubicBezTo>
                  <a:lnTo>
                    <a:pt x="8356" y="512114"/>
                  </a:lnTo>
                  <a:lnTo>
                    <a:pt x="8356" y="512114"/>
                  </a:lnTo>
                  <a:close/>
                  <a:moveTo>
                    <a:pt x="255054" y="402576"/>
                  </a:moveTo>
                  <a:lnTo>
                    <a:pt x="252196" y="404481"/>
                  </a:lnTo>
                  <a:lnTo>
                    <a:pt x="246481" y="408291"/>
                  </a:lnTo>
                  <a:cubicBezTo>
                    <a:pt x="198856" y="439724"/>
                    <a:pt x="119799" y="440676"/>
                    <a:pt x="55029" y="414959"/>
                  </a:cubicBezTo>
                  <a:lnTo>
                    <a:pt x="51218" y="413053"/>
                  </a:lnTo>
                  <a:lnTo>
                    <a:pt x="22643" y="474014"/>
                  </a:lnTo>
                  <a:lnTo>
                    <a:pt x="21691" y="475918"/>
                  </a:lnTo>
                  <a:cubicBezTo>
                    <a:pt x="18833" y="482586"/>
                    <a:pt x="18833" y="490206"/>
                    <a:pt x="21691" y="495921"/>
                  </a:cubicBezTo>
                  <a:cubicBezTo>
                    <a:pt x="22643" y="498778"/>
                    <a:pt x="25501" y="501636"/>
                    <a:pt x="29311" y="502589"/>
                  </a:cubicBezTo>
                  <a:lnTo>
                    <a:pt x="30264" y="502589"/>
                  </a:lnTo>
                  <a:lnTo>
                    <a:pt x="31216" y="502589"/>
                  </a:lnTo>
                  <a:lnTo>
                    <a:pt x="456983" y="502589"/>
                  </a:lnTo>
                  <a:lnTo>
                    <a:pt x="457936" y="502589"/>
                  </a:lnTo>
                  <a:cubicBezTo>
                    <a:pt x="461746" y="502589"/>
                    <a:pt x="464604" y="499731"/>
                    <a:pt x="466508" y="495921"/>
                  </a:cubicBezTo>
                  <a:cubicBezTo>
                    <a:pt x="468414" y="490206"/>
                    <a:pt x="469366" y="483539"/>
                    <a:pt x="467461" y="477824"/>
                  </a:cubicBezTo>
                  <a:lnTo>
                    <a:pt x="466508" y="475918"/>
                  </a:lnTo>
                  <a:lnTo>
                    <a:pt x="465556" y="474014"/>
                  </a:lnTo>
                  <a:lnTo>
                    <a:pt x="423646" y="385431"/>
                  </a:lnTo>
                  <a:cubicBezTo>
                    <a:pt x="365543" y="372096"/>
                    <a:pt x="296011" y="376859"/>
                    <a:pt x="255054" y="402576"/>
                  </a:cubicBezTo>
                  <a:close/>
                  <a:moveTo>
                    <a:pt x="305536" y="255891"/>
                  </a:moveTo>
                  <a:cubicBezTo>
                    <a:pt x="287439" y="255891"/>
                    <a:pt x="272199" y="271131"/>
                    <a:pt x="272199" y="289228"/>
                  </a:cubicBezTo>
                  <a:cubicBezTo>
                    <a:pt x="272199" y="307326"/>
                    <a:pt x="287439" y="322566"/>
                    <a:pt x="305536" y="322566"/>
                  </a:cubicBezTo>
                  <a:cubicBezTo>
                    <a:pt x="323633" y="322566"/>
                    <a:pt x="338874" y="307326"/>
                    <a:pt x="338874" y="289228"/>
                  </a:cubicBezTo>
                  <a:cubicBezTo>
                    <a:pt x="338874" y="270178"/>
                    <a:pt x="323633" y="255891"/>
                    <a:pt x="305536" y="2558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0170" tIns="46990" rIns="90170" bIns="46990" anchor="ctr">
              <a:normAutofit fontScale="47500" lnSpcReduction="2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79745" y="1769745"/>
            <a:ext cx="5407631" cy="4364355"/>
            <a:chOff x="5399051" y="1769914"/>
            <a:chExt cx="5407482" cy="4364186"/>
          </a:xfrm>
        </p:grpSpPr>
        <p:sp>
          <p:nvSpPr>
            <p:cNvPr id="8" name="Freeform 8"/>
            <p:cNvSpPr/>
            <p:nvPr/>
          </p:nvSpPr>
          <p:spPr>
            <a:xfrm>
              <a:off x="5399051" y="1769914"/>
              <a:ext cx="5407482" cy="4364186"/>
            </a:xfrm>
            <a:custGeom>
              <a:avLst/>
              <a:gdLst/>
              <a:ahLst/>
              <a:cxnLst/>
              <a:rect l="l" t="t" r="r" b="b"/>
              <a:pathLst>
                <a:path w="5407482" h="4239000">
                  <a:moveTo>
                    <a:pt x="0" y="0"/>
                  </a:moveTo>
                  <a:lnTo>
                    <a:pt x="4831614" y="0"/>
                  </a:lnTo>
                  <a:cubicBezTo>
                    <a:pt x="5149657" y="0"/>
                    <a:pt x="5407482" y="257825"/>
                    <a:pt x="5407482" y="575868"/>
                  </a:cubicBezTo>
                  <a:lnTo>
                    <a:pt x="5407482" y="3663132"/>
                  </a:lnTo>
                  <a:cubicBezTo>
                    <a:pt x="5407482" y="3981175"/>
                    <a:pt x="5149657" y="4239000"/>
                    <a:pt x="4831614" y="4239000"/>
                  </a:cubicBezTo>
                  <a:lnTo>
                    <a:pt x="1135837" y="42390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7000">
                  <a:schemeClr val="accent2">
                    <a:alpha val="0"/>
                    <a:lumMod val="60000"/>
                    <a:lumOff val="40000"/>
                  </a:schemeClr>
                </a:gs>
                <a:gs pos="64999">
                  <a:schemeClr val="accent2">
                    <a:alpha val="65000"/>
                    <a:lumMod val="50000"/>
                    <a:lumOff val="5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9804460" y="5125857"/>
              <a:ext cx="803982" cy="803979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9861580" y="5182976"/>
              <a:ext cx="689743" cy="689741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50000">
                  <a:schemeClr val="accent2"/>
                </a:gs>
              </a:gsLst>
              <a:lin ang="2700000"/>
            </a:gradFill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109457" y="5423804"/>
              <a:ext cx="193988" cy="208085"/>
            </a:xfrm>
            <a:custGeom>
              <a:avLst/>
              <a:gdLst/>
              <a:ahLst/>
              <a:cxnLst/>
              <a:rect l="l" t="t" r="r" b="b"/>
              <a:pathLst>
                <a:path w="487477" h="522922">
                  <a:moveTo>
                    <a:pt x="8356" y="512114"/>
                  </a:moveTo>
                  <a:lnTo>
                    <a:pt x="8356" y="512114"/>
                  </a:lnTo>
                  <a:lnTo>
                    <a:pt x="8356" y="512114"/>
                  </a:lnTo>
                  <a:lnTo>
                    <a:pt x="7404" y="511161"/>
                  </a:lnTo>
                  <a:cubicBezTo>
                    <a:pt x="6451" y="510209"/>
                    <a:pt x="6451" y="509256"/>
                    <a:pt x="5499" y="508303"/>
                  </a:cubicBezTo>
                  <a:lnTo>
                    <a:pt x="5499" y="508303"/>
                  </a:lnTo>
                  <a:lnTo>
                    <a:pt x="5499" y="507351"/>
                  </a:lnTo>
                  <a:lnTo>
                    <a:pt x="4546" y="505446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2641" y="501636"/>
                  </a:lnTo>
                  <a:cubicBezTo>
                    <a:pt x="2641" y="501636"/>
                    <a:pt x="2641" y="500684"/>
                    <a:pt x="2641" y="500684"/>
                  </a:cubicBezTo>
                  <a:cubicBezTo>
                    <a:pt x="2641" y="499731"/>
                    <a:pt x="2641" y="499731"/>
                    <a:pt x="1689" y="498778"/>
                  </a:cubicBezTo>
                  <a:cubicBezTo>
                    <a:pt x="1689" y="497826"/>
                    <a:pt x="736" y="495921"/>
                    <a:pt x="736" y="494968"/>
                  </a:cubicBezTo>
                  <a:lnTo>
                    <a:pt x="736" y="492111"/>
                  </a:lnTo>
                  <a:cubicBezTo>
                    <a:pt x="736" y="490206"/>
                    <a:pt x="736" y="487349"/>
                    <a:pt x="736" y="485443"/>
                  </a:cubicBezTo>
                  <a:cubicBezTo>
                    <a:pt x="736" y="478776"/>
                    <a:pt x="2641" y="473061"/>
                    <a:pt x="5499" y="467346"/>
                  </a:cubicBezTo>
                  <a:lnTo>
                    <a:pt x="155041" y="151116"/>
                  </a:lnTo>
                  <a:cubicBezTo>
                    <a:pt x="157899" y="146353"/>
                    <a:pt x="158851" y="140639"/>
                    <a:pt x="158851" y="134924"/>
                  </a:cubicBezTo>
                  <a:lnTo>
                    <a:pt x="158851" y="19671"/>
                  </a:lnTo>
                  <a:lnTo>
                    <a:pt x="120751" y="19671"/>
                  </a:lnTo>
                  <a:lnTo>
                    <a:pt x="120751" y="621"/>
                  </a:lnTo>
                  <a:lnTo>
                    <a:pt x="368401" y="621"/>
                  </a:lnTo>
                  <a:lnTo>
                    <a:pt x="368401" y="19671"/>
                  </a:lnTo>
                  <a:lnTo>
                    <a:pt x="330301" y="19671"/>
                  </a:lnTo>
                  <a:lnTo>
                    <a:pt x="330301" y="134924"/>
                  </a:lnTo>
                  <a:cubicBezTo>
                    <a:pt x="330301" y="140639"/>
                    <a:pt x="331254" y="146353"/>
                    <a:pt x="334111" y="151116"/>
                  </a:cubicBezTo>
                  <a:lnTo>
                    <a:pt x="483654" y="467346"/>
                  </a:lnTo>
                  <a:cubicBezTo>
                    <a:pt x="489368" y="478776"/>
                    <a:pt x="489368" y="492111"/>
                    <a:pt x="485558" y="504493"/>
                  </a:cubicBezTo>
                  <a:lnTo>
                    <a:pt x="485558" y="504493"/>
                  </a:lnTo>
                  <a:lnTo>
                    <a:pt x="484606" y="506399"/>
                  </a:lnTo>
                  <a:cubicBezTo>
                    <a:pt x="479843" y="515924"/>
                    <a:pt x="470318" y="522591"/>
                    <a:pt x="459841" y="523543"/>
                  </a:cubicBezTo>
                  <a:lnTo>
                    <a:pt x="457936" y="523543"/>
                  </a:lnTo>
                  <a:lnTo>
                    <a:pt x="32168" y="523543"/>
                  </a:lnTo>
                  <a:lnTo>
                    <a:pt x="30264" y="523543"/>
                  </a:lnTo>
                  <a:cubicBezTo>
                    <a:pt x="29311" y="523543"/>
                    <a:pt x="28358" y="523543"/>
                    <a:pt x="27406" y="523543"/>
                  </a:cubicBezTo>
                  <a:cubicBezTo>
                    <a:pt x="26454" y="523543"/>
                    <a:pt x="24549" y="523543"/>
                    <a:pt x="23596" y="522591"/>
                  </a:cubicBezTo>
                  <a:lnTo>
                    <a:pt x="23596" y="522591"/>
                  </a:lnTo>
                  <a:cubicBezTo>
                    <a:pt x="21691" y="521639"/>
                    <a:pt x="19786" y="521639"/>
                    <a:pt x="17881" y="520686"/>
                  </a:cubicBezTo>
                  <a:lnTo>
                    <a:pt x="15976" y="519734"/>
                  </a:lnTo>
                  <a:cubicBezTo>
                    <a:pt x="15976" y="519734"/>
                    <a:pt x="15024" y="519734"/>
                    <a:pt x="15024" y="518781"/>
                  </a:cubicBezTo>
                  <a:cubicBezTo>
                    <a:pt x="13118" y="517828"/>
                    <a:pt x="11214" y="515924"/>
                    <a:pt x="10261" y="514971"/>
                  </a:cubicBezTo>
                  <a:lnTo>
                    <a:pt x="8356" y="512114"/>
                  </a:lnTo>
                  <a:lnTo>
                    <a:pt x="8356" y="512114"/>
                  </a:lnTo>
                  <a:close/>
                  <a:moveTo>
                    <a:pt x="255054" y="402576"/>
                  </a:moveTo>
                  <a:lnTo>
                    <a:pt x="252196" y="404481"/>
                  </a:lnTo>
                  <a:lnTo>
                    <a:pt x="246481" y="408291"/>
                  </a:lnTo>
                  <a:cubicBezTo>
                    <a:pt x="198856" y="439724"/>
                    <a:pt x="119799" y="440676"/>
                    <a:pt x="55029" y="414959"/>
                  </a:cubicBezTo>
                  <a:lnTo>
                    <a:pt x="51218" y="413053"/>
                  </a:lnTo>
                  <a:lnTo>
                    <a:pt x="22643" y="474014"/>
                  </a:lnTo>
                  <a:lnTo>
                    <a:pt x="21691" y="475918"/>
                  </a:lnTo>
                  <a:cubicBezTo>
                    <a:pt x="18833" y="482586"/>
                    <a:pt x="18833" y="490206"/>
                    <a:pt x="21691" y="495921"/>
                  </a:cubicBezTo>
                  <a:cubicBezTo>
                    <a:pt x="22643" y="498778"/>
                    <a:pt x="25501" y="501636"/>
                    <a:pt x="29311" y="502589"/>
                  </a:cubicBezTo>
                  <a:lnTo>
                    <a:pt x="30264" y="502589"/>
                  </a:lnTo>
                  <a:lnTo>
                    <a:pt x="31216" y="502589"/>
                  </a:lnTo>
                  <a:lnTo>
                    <a:pt x="456983" y="502589"/>
                  </a:lnTo>
                  <a:lnTo>
                    <a:pt x="457936" y="502589"/>
                  </a:lnTo>
                  <a:cubicBezTo>
                    <a:pt x="461746" y="502589"/>
                    <a:pt x="464604" y="499731"/>
                    <a:pt x="466508" y="495921"/>
                  </a:cubicBezTo>
                  <a:cubicBezTo>
                    <a:pt x="468414" y="490206"/>
                    <a:pt x="469366" y="483539"/>
                    <a:pt x="467461" y="477824"/>
                  </a:cubicBezTo>
                  <a:lnTo>
                    <a:pt x="466508" y="475918"/>
                  </a:lnTo>
                  <a:lnTo>
                    <a:pt x="465556" y="474014"/>
                  </a:lnTo>
                  <a:lnTo>
                    <a:pt x="423646" y="385431"/>
                  </a:lnTo>
                  <a:cubicBezTo>
                    <a:pt x="365543" y="372096"/>
                    <a:pt x="296011" y="376859"/>
                    <a:pt x="255054" y="402576"/>
                  </a:cubicBezTo>
                  <a:close/>
                  <a:moveTo>
                    <a:pt x="305536" y="255891"/>
                  </a:moveTo>
                  <a:cubicBezTo>
                    <a:pt x="287439" y="255891"/>
                    <a:pt x="272199" y="271131"/>
                    <a:pt x="272199" y="289228"/>
                  </a:cubicBezTo>
                  <a:cubicBezTo>
                    <a:pt x="272199" y="307326"/>
                    <a:pt x="287439" y="322566"/>
                    <a:pt x="305536" y="322566"/>
                  </a:cubicBezTo>
                  <a:cubicBezTo>
                    <a:pt x="323633" y="322566"/>
                    <a:pt x="338874" y="307326"/>
                    <a:pt x="338874" y="289228"/>
                  </a:cubicBezTo>
                  <a:cubicBezTo>
                    <a:pt x="338874" y="270178"/>
                    <a:pt x="323633" y="255891"/>
                    <a:pt x="305536" y="2558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0170" tIns="46990" rIns="90170" bIns="46990" anchor="ctr">
              <a:normAutofit fontScale="475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3500" y="2789555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Immediate Recommendations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33500" y="3581400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It is recommended that banks adopt ML systems for loan approval, with a specific focus on enhancing credit analysis capabilities.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83985" y="1996440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235586"/>
                </a:solidFill>
                <a:latin typeface="思源黑体 Normal"/>
                <a:ea typeface="思源黑体 Normal"/>
              </a:rPr>
              <a:t>Future Scope and Enhancements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83985" y="2789555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Future work includes exploring advanced models like Random Forest and XGBoost, as well as deploying the model on a web platform for real-time data processing.</a:t>
            </a:r>
          </a:p>
        </p:txBody>
      </p:sp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235586"/>
          </a:solidFill>
        </p:spPr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Recommendations and Future Work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8913" y="4309110"/>
            <a:ext cx="2701925" cy="3695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298913" y="1266832"/>
            <a:ext cx="8177347" cy="283460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dist">
              <a:defRPr/>
            </a:pPr>
            <a:r>
              <a:rPr lang="zh-CN" altLang="en-US" sz="8800" b="1" i="0" u="none" spc="500" baseline="0" dirty="0">
                <a:solidFill>
                  <a:srgbClr val="003E8B"/>
                </a:solidFill>
                <a:latin typeface="思源黑体 Medium"/>
                <a:ea typeface="思源黑体 Medium"/>
              </a:rPr>
              <a:t>Thank you </a:t>
            </a:r>
            <a:endParaRPr lang="en-US" sz="1100" dirty="0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FFFFF"/>
      </a:lt1>
      <a:dk2>
        <a:srgbClr val="235586"/>
      </a:dk2>
      <a:lt2>
        <a:srgbClr val="FFFFFF"/>
      </a:lt2>
      <a:accent1>
        <a:srgbClr val="235586"/>
      </a:accent1>
      <a:accent2>
        <a:srgbClr val="235586"/>
      </a:accent2>
      <a:accent3>
        <a:srgbClr val="235586"/>
      </a:accent3>
      <a:accent4>
        <a:srgbClr val="235586"/>
      </a:accent4>
      <a:accent5>
        <a:srgbClr val="235586"/>
      </a:accent5>
      <a:accent6>
        <a:srgbClr val="235586"/>
      </a:accent6>
      <a:hlink>
        <a:srgbClr val="262626"/>
      </a:hlink>
      <a:folHlink>
        <a:srgbClr val="262626"/>
      </a:folHlink>
    </a:clrScheme>
    <a:fontScheme name="Office">
      <a:maj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675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Microsoft YaHei</vt:lpstr>
      <vt:lpstr>Arial</vt:lpstr>
      <vt:lpstr>Consolas</vt:lpstr>
      <vt:lpstr>思源宋体 CN Medium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Paras Patil</dc:creator>
  <cp:lastModifiedBy>Paras Patil</cp:lastModifiedBy>
  <cp:revision>3</cp:revision>
  <dcterms:created xsi:type="dcterms:W3CDTF">2026-04-15T16:35:59Z</dcterms:created>
  <dcterms:modified xsi:type="dcterms:W3CDTF">2026-04-15T16:53:15Z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{"ContentPropagator":"文多多","Label":"1","ReservedCode1":"1776270959212","ProduceID":"wenduoduo-pptx-1776270959212","ReservedCode2":"1776270959212","PropagateID":"wenduoduo-pptx1776270959212","ContentProducer":"文多多"}</vt:lpwstr>
  </property>
</Properties>
</file>